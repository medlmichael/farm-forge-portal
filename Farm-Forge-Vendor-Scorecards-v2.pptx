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rm-forge-logo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146304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Farm &amp; Forge Vendor Scorecards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6692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Executive evaluation deck (generated from portal scorecards)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69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529"/>
                </a:solidFill>
              </a:defRPr>
            </a:pPr>
            <a:r>
              <a:t>Decision support for platform selection and rollout sequencing</a:t>
            </a:r>
          </a:p>
          <a:p>
            <a:pPr>
              <a:defRPr sz="1600">
                <a:solidFill>
                  <a:srgbClr val="5A6270"/>
                </a:solidFill>
              </a:defRPr>
            </a:pPr>
            <a:r>
              <a:t>Includes: status, weighted score, recommended role, and actionable summary per service.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rm-forge-logo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146304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529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6692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270"/>
                </a:solidFill>
              </a:defRPr>
            </a:pPr>
            <a:r>
              <a:t>At-a-glance status across all evaluated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69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0" y="1389888"/>
            <a:ext cx="1828800" cy="329184"/>
          </a:xfrm>
          <a:prstGeom prst="roundRect">
            <a:avLst/>
          </a:prstGeom>
          <a:solidFill>
            <a:srgbClr val="B5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Conditional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89888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12529"/>
                </a:solidFill>
              </a:defRPr>
            </a:pPr>
            <a:r>
              <a:t>EZFacility  |  Phase: reviewed  |  Role: hybrid-layer</a:t>
            </a:r>
          </a:p>
          <a:p>
            <a:pPr>
              <a:defRPr sz="1100">
                <a:solidFill>
                  <a:srgbClr val="5A6270"/>
                </a:solidFill>
              </a:defRPr>
            </a:pPr>
            <a:r>
              <a:t>Weighted Score: 3.85/5 (77/100)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56231"/>
            <a:ext cx="11064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0" y="1920239"/>
            <a:ext cx="1828800" cy="329184"/>
          </a:xfrm>
          <a:prstGeom prst="roundRect">
            <a:avLst/>
          </a:prstGeom>
          <a:solidFill>
            <a:srgbClr val="B5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Conditional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20239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12529"/>
                </a:solidFill>
              </a:defRPr>
            </a:pPr>
            <a:r>
              <a:t>Mastery (Instructure)  |  Phase: reviewed  |  Role: academic-layer</a:t>
            </a:r>
          </a:p>
          <a:p>
            <a:pPr>
              <a:defRPr sz="1100">
                <a:solidFill>
                  <a:srgbClr val="5A6270"/>
                </a:solidFill>
              </a:defRPr>
            </a:pPr>
            <a:r>
              <a:t>Weighted Score: 2.35/5 (47/100)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86584"/>
            <a:ext cx="11064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0" y="2450591"/>
            <a:ext cx="1828800" cy="329184"/>
          </a:xfrm>
          <a:prstGeom prst="roundRect">
            <a:avLst/>
          </a:prstGeom>
          <a:solidFill>
            <a:srgbClr val="B5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Conditional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450591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12529"/>
                </a:solidFill>
              </a:defRPr>
            </a:pPr>
            <a:r>
              <a:t>ParentSquare  |  Phase: reviewed  |  Role: comms-layer</a:t>
            </a:r>
          </a:p>
          <a:p>
            <a:pPr>
              <a:defRPr sz="1100">
                <a:solidFill>
                  <a:srgbClr val="5A6270"/>
                </a:solidFill>
              </a:defRPr>
            </a:pPr>
            <a:r>
              <a:t>Weighted Score: 2.45/5 (49/100)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16936"/>
            <a:ext cx="11064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0" y="2980944"/>
            <a:ext cx="1828800" cy="329184"/>
          </a:xfrm>
          <a:prstGeom prst="roundRect">
            <a:avLst/>
          </a:prstGeom>
          <a:solidFill>
            <a:srgbClr val="B5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Conditional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980944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12529"/>
                </a:solidFill>
              </a:defRPr>
            </a:pPr>
            <a:r>
              <a:t>CourtReserve  |  Phase: reviewed  |  Role: core-ops</a:t>
            </a:r>
          </a:p>
          <a:p>
            <a:pPr>
              <a:defRPr sz="1100">
                <a:solidFill>
                  <a:srgbClr val="5A6270"/>
                </a:solidFill>
              </a:defRPr>
            </a:pPr>
            <a:r>
              <a:t>Weighted Score: 4.1/5 (82/100)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47288"/>
            <a:ext cx="11064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3511296"/>
            <a:ext cx="1828800" cy="329184"/>
          </a:xfrm>
          <a:prstGeom prst="roundRect">
            <a:avLst/>
          </a:prstGeom>
          <a:solidFill>
            <a:srgbClr val="3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Pending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511296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12529"/>
                </a:solidFill>
              </a:defRPr>
            </a:pPr>
            <a:r>
              <a:t>Exercise.com  |  Phase: in-progress  |  Role: tbd</a:t>
            </a:r>
          </a:p>
          <a:p>
            <a:pPr>
              <a:defRPr sz="1100">
                <a:solidFill>
                  <a:srgbClr val="5A6270"/>
                </a:solidFill>
              </a:defRPr>
            </a:pPr>
            <a:r>
              <a:t>Weighted Score: Pending (rows not completed)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77639"/>
            <a:ext cx="11064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1200" y="4041648"/>
            <a:ext cx="1828800" cy="329184"/>
          </a:xfrm>
          <a:prstGeom prst="roundRect">
            <a:avLst/>
          </a:prstGeom>
          <a:solidFill>
            <a:srgbClr val="B5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Conditional 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41648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12529"/>
                </a:solidFill>
              </a:defRPr>
            </a:pPr>
            <a:r>
              <a:t>Mindbody  |  Phase: reviewed  |  Role: hybrid-layer</a:t>
            </a:r>
          </a:p>
          <a:p>
            <a:pPr>
              <a:defRPr sz="1100">
                <a:solidFill>
                  <a:srgbClr val="5A6270"/>
                </a:solidFill>
              </a:defRPr>
            </a:pPr>
            <a:r>
              <a:t>Weighted Score: 3.7/5 (74/100)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07992"/>
            <a:ext cx="11064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01200" y="4572000"/>
            <a:ext cx="1828800" cy="329184"/>
          </a:xfrm>
          <a:prstGeom prst="roundRect">
            <a:avLst/>
          </a:prstGeom>
          <a:solidFill>
            <a:srgbClr val="3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Pending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572000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12529"/>
                </a:solidFill>
              </a:defRPr>
            </a:pPr>
            <a:r>
              <a:t>Teamworks  |  Phase: in-progress  |  Role: tbd</a:t>
            </a:r>
          </a:p>
          <a:p>
            <a:pPr>
              <a:defRPr sz="1100">
                <a:solidFill>
                  <a:srgbClr val="5A6270"/>
                </a:solidFill>
              </a:defRPr>
            </a:pPr>
            <a:r>
              <a:t>Weighted Score: Pending (rows not completed)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38344"/>
            <a:ext cx="11064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0" y="5102352"/>
            <a:ext cx="1828800" cy="329184"/>
          </a:xfrm>
          <a:prstGeom prst="roundRect">
            <a:avLst/>
          </a:prstGeom>
          <a:solidFill>
            <a:srgbClr val="3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Pending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10235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12529"/>
                </a:solidFill>
              </a:defRPr>
            </a:pPr>
            <a:r>
              <a:t>Waresport  |  Phase: pending  |  Role: tbd</a:t>
            </a:r>
          </a:p>
          <a:p>
            <a:pPr>
              <a:defRPr sz="1100">
                <a:solidFill>
                  <a:srgbClr val="5A6270"/>
                </a:solidFill>
              </a:defRPr>
            </a:pPr>
            <a:r>
              <a:t>Weighted Score: Pending (rows not completed)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568696"/>
            <a:ext cx="11064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01200" y="5632704"/>
            <a:ext cx="1828800" cy="329184"/>
          </a:xfrm>
          <a:prstGeom prst="roundRect">
            <a:avLst/>
          </a:prstGeom>
          <a:solidFill>
            <a:srgbClr val="B5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Conditional Fit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632704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12529"/>
                </a:solidFill>
              </a:defRPr>
            </a:pPr>
            <a:r>
              <a:t>Jonas Club  |  Phase: trial-pending  |  Role: core-ops</a:t>
            </a:r>
          </a:p>
          <a:p>
            <a:pPr>
              <a:defRPr sz="1100">
                <a:solidFill>
                  <a:srgbClr val="5A6270"/>
                </a:solidFill>
              </a:defRPr>
            </a:pPr>
            <a:r>
              <a:t>Weighted Score: Pending (rows not completed)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6099048"/>
            <a:ext cx="11064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01200" y="6163056"/>
            <a:ext cx="1828800" cy="329184"/>
          </a:xfrm>
          <a:prstGeom prst="roundRect">
            <a:avLst/>
          </a:prstGeom>
          <a:solidFill>
            <a:srgbClr val="3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Pending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163056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12529"/>
                </a:solidFill>
              </a:defRPr>
            </a:pPr>
            <a:r>
              <a:t>TeamBuildr OS  |  Phase: hands-on-trial  |  Role: performance-layer</a:t>
            </a:r>
          </a:p>
          <a:p>
            <a:pPr>
              <a:defRPr sz="1100">
                <a:solidFill>
                  <a:srgbClr val="5A6270"/>
                </a:solidFill>
              </a:defRPr>
            </a:pPr>
            <a:r>
              <a:t>Weighted Score: Pending (rows not completed)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rm-forge-logo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146304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529"/>
                </a:solidFill>
              </a:defRPr>
            </a:pPr>
            <a:r>
              <a:t>EZFacility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6692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270"/>
                </a:solidFill>
              </a:defRPr>
            </a:pPr>
            <a:r>
              <a:t>Status: conditional-fit   •   Phase: reviewed   •   Recommended Role: hybrid-layer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69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11A2E"/>
                </a:solidFill>
              </a:defRPr>
            </a:pPr>
            <a:r>
              <a:t>Summary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Strong business operations platform. Needs integrations for two-way communication and richer athlete analytics.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463040"/>
            <a:ext cx="2926080" cy="777240"/>
          </a:xfrm>
          <a:prstGeom prst="roundRect">
            <a:avLst/>
          </a:prstGeom>
          <a:solidFill>
            <a:srgbClr val="F7F8FC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A6270"/>
                </a:solidFill>
              </a:defRPr>
            </a:pPr>
            <a:r>
              <a:t>Weighted Score</a:t>
            </a:r>
          </a:p>
          <a:p>
            <a:pPr algn="ctr">
              <a:defRPr sz="1800" b="1">
                <a:solidFill>
                  <a:srgbClr val="111A2E"/>
                </a:solidFill>
              </a:defRPr>
            </a:pPr>
            <a:r>
              <a:t>3.85/5  (77/100)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606040"/>
          <a:ext cx="1106424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822960"/>
                <a:gridCol w="731520"/>
                <a:gridCol w="5303520"/>
              </a:tblGrid>
              <a:tr h="555171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Member onboarding + registration + waivers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Supports onboarding/registration/waivers.</a:t>
                      </a:r>
                    </a:p>
                  </a:txBody>
                  <a:tcPr/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Scheduling + court booking complexity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Supports conflicts, waitlists, recurring programs.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Parent/athlete communication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One-way only natively; two-way via API + third-party integration.</a:t>
                      </a:r>
                    </a:p>
                  </a:txBody>
                  <a:tcPr/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Billing/subscriptions + refunds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Strong operations support.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Staff roles/permissions + auditability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Role depth depends on selected package tier.</a:t>
                      </a:r>
                    </a:p>
                  </a:txBody>
                  <a:tcPr/>
                </a:tc>
              </a:tr>
              <a:tr h="5551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Reporting quality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Business-management focused; limited athlete-management analytics.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rm-forge-logo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146304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529"/>
                </a:solidFill>
              </a:defRPr>
            </a:pPr>
            <a:r>
              <a:t>Mastery (Instructure)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6692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270"/>
                </a:solidFill>
              </a:defRPr>
            </a:pPr>
            <a:r>
              <a:t>Status: conditional-fit   •   Phase: reviewed   •   Recommended Role: academic-layer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69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11A2E"/>
                </a:solidFill>
              </a:defRPr>
            </a:pPr>
            <a:r>
              <a:t>Summary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Best used as an education/performance layer, not a full replacement for Club Automation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463040"/>
            <a:ext cx="2926080" cy="777240"/>
          </a:xfrm>
          <a:prstGeom prst="roundRect">
            <a:avLst/>
          </a:prstGeom>
          <a:solidFill>
            <a:srgbClr val="F7F8FC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A6270"/>
                </a:solidFill>
              </a:defRPr>
            </a:pPr>
            <a:r>
              <a:t>Weighted Score</a:t>
            </a:r>
          </a:p>
          <a:p>
            <a:pPr algn="ctr">
              <a:defRPr sz="1800" b="1">
                <a:solidFill>
                  <a:srgbClr val="111A2E"/>
                </a:solidFill>
              </a:defRPr>
            </a:pPr>
            <a:r>
              <a:t>2.35/5  (47/100)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606040"/>
          <a:ext cx="1106424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822960"/>
                <a:gridCol w="731520"/>
                <a:gridCol w="5303520"/>
              </a:tblGrid>
              <a:tr h="555171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Member onboarding + registration + waivers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Not intended for onboarding/waiver workflows.</a:t>
                      </a:r>
                    </a:p>
                  </a:txBody>
                  <a:tcPr/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Scheduling + court booking complexity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Not a booking/scheduling platform.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Parent/athlete communication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Limited direct communication focus.</a:t>
                      </a:r>
                    </a:p>
                  </a:txBody>
                  <a:tcPr/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Billing/subscriptions + refunds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No native billing/subscription management for club operations.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Staff roles/permissions + auditability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Has institutional roles, but different model than club ops roles.</a:t>
                      </a:r>
                    </a:p>
                  </a:txBody>
                  <a:tcPr/>
                </a:tc>
              </a:tr>
              <a:tr h="5551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Reporting quality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Strong academic/performance mastery reporting.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rm-forge-logo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146304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529"/>
                </a:solidFill>
              </a:defRPr>
            </a:pPr>
            <a:r>
              <a:t>ParentSquare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6692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270"/>
                </a:solidFill>
              </a:defRPr>
            </a:pPr>
            <a:r>
              <a:t>Status: conditional-fit   •   Phase: reviewed   •   Recommended Role: comms-layer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69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11A2E"/>
                </a:solidFill>
              </a:defRPr>
            </a:pPr>
            <a:r>
              <a:t>Summary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Best used as a communication layer alongside operations tooling; not a full Club Automation replacement.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463040"/>
            <a:ext cx="2926080" cy="777240"/>
          </a:xfrm>
          <a:prstGeom prst="roundRect">
            <a:avLst/>
          </a:prstGeom>
          <a:solidFill>
            <a:srgbClr val="F7F8FC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A6270"/>
                </a:solidFill>
              </a:defRPr>
            </a:pPr>
            <a:r>
              <a:t>Weighted Score</a:t>
            </a:r>
          </a:p>
          <a:p>
            <a:pPr algn="ctr">
              <a:defRPr sz="1800" b="1">
                <a:solidFill>
                  <a:srgbClr val="111A2E"/>
                </a:solidFill>
              </a:defRPr>
            </a:pPr>
            <a:r>
              <a:t>2.45/5  (49/100)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606040"/>
          <a:ext cx="1106424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822960"/>
                <a:gridCol w="731520"/>
                <a:gridCol w="5303520"/>
              </a:tblGrid>
              <a:tr h="555171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Member onboarding + registration + waivers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Not built as primary registration/waiver platform.</a:t>
                      </a:r>
                    </a:p>
                  </a:txBody>
                  <a:tcPr/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Scheduling + court booking complexity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Not a booking/court scheduling engine.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Parent/athlete communication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Strong parent communication/inbox capabilities.</a:t>
                      </a:r>
                    </a:p>
                  </a:txBody>
                  <a:tcPr/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Billing/subscriptions + refunds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Not focused on billing/subscription operations.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Staff roles/permissions + auditability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Supports role-based communication admin workflows.</a:t>
                      </a:r>
                    </a:p>
                  </a:txBody>
                  <a:tcPr/>
                </a:tc>
              </a:tr>
              <a:tr h="5551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Reporting quality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Useful communication analytics; limited athletic/performance analytics.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rm-forge-logo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146304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529"/>
                </a:solidFill>
              </a:defRPr>
            </a:pPr>
            <a:r>
              <a:t>CourtReserve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6692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270"/>
                </a:solidFill>
              </a:defRPr>
            </a:pPr>
            <a:r>
              <a:t>Status: conditional-fit   •   Phase: reviewed   •   Recommended Role: core-ops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69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11A2E"/>
                </a:solidFill>
              </a:defRPr>
            </a:pPr>
            <a:r>
              <a:t>Summary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Promising core operations candidate with mature onboarding and reporting. Keep as conditional pending trial validation on communication workflows, booking edge cases, role granularity, and API/webhook limits before final selection.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463040"/>
            <a:ext cx="2926080" cy="777240"/>
          </a:xfrm>
          <a:prstGeom prst="roundRect">
            <a:avLst/>
          </a:prstGeom>
          <a:solidFill>
            <a:srgbClr val="F7F8FC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A6270"/>
                </a:solidFill>
              </a:defRPr>
            </a:pPr>
            <a:r>
              <a:t>Weighted Score</a:t>
            </a:r>
          </a:p>
          <a:p>
            <a:pPr algn="ctr">
              <a:defRPr sz="1800" b="1">
                <a:solidFill>
                  <a:srgbClr val="111A2E"/>
                </a:solidFill>
              </a:defRPr>
            </a:pPr>
            <a:r>
              <a:t>4.1/5  (82/100)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606040"/>
          <a:ext cx="1106424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822960"/>
                <a:gridCol w="731520"/>
                <a:gridCol w="5303520"/>
              </a:tblGrid>
              <a:tr h="555171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Member onboarding + registration + waivers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Strong native support for waivers, memberships, packages, and member import with guided onboarding (30–60 days).</a:t>
                      </a:r>
                    </a:p>
                  </a:txBody>
                  <a:tcPr/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Scheduling + court booking complexity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Booking restrictions are configurable; fit looks strong for court and resource operations.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Parent/athlete communication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Supports email, text, and push notifications; depth of two-way communication should be validated in trial.</a:t>
                      </a:r>
                    </a:p>
                  </a:txBody>
                  <a:tcPr/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Billing/subscriptions + refunds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Integrated billing with financial reporting, plus payment integrations (Stripe and SafeSave).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Staff roles/permissions + auditability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Admin users and operational controls are clearly supported.</a:t>
                      </a:r>
                    </a:p>
                  </a:txBody>
                  <a:tcPr/>
                </a:tc>
              </a:tr>
              <a:tr h="5551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Reporting quality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Platform includes reporting plus billing/financial reports and waiver tracking reports.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rm-forge-logo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146304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529"/>
                </a:solidFill>
              </a:defRPr>
            </a:pPr>
            <a:r>
              <a:t>Exercise.com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6692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270"/>
                </a:solidFill>
              </a:defRPr>
            </a:pPr>
            <a:r>
              <a:t>Status: pending-review   •   Phase: in-progress   •   Recommended Role: tbd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69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11A2E"/>
                </a:solidFill>
              </a:defRPr>
            </a:pPr>
            <a:r>
              <a:t>Summary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Demo request submitted; awaiting follow-up and product walkthrough for scoring.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463040"/>
            <a:ext cx="2926080" cy="777240"/>
          </a:xfrm>
          <a:prstGeom prst="roundRect">
            <a:avLst/>
          </a:prstGeom>
          <a:solidFill>
            <a:srgbClr val="F7F8FC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A6270"/>
                </a:solidFill>
              </a:defRPr>
            </a:pPr>
            <a:r>
              <a:t>Weighted Score</a:t>
            </a:r>
          </a:p>
          <a:p>
            <a:pPr algn="ctr">
              <a:defRPr sz="1800" b="1">
                <a:solidFill>
                  <a:srgbClr val="111A2E"/>
                </a:solidFill>
              </a:defRPr>
            </a:pPr>
            <a:r>
              <a:t>Pending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11064240" cy="1097280"/>
          </a:xfrm>
          <a:prstGeom prst="roundRect">
            <a:avLst/>
          </a:prstGeom>
          <a:solidFill>
            <a:srgbClr val="FFF8E6"/>
          </a:solidFill>
          <a:ln>
            <a:solidFill>
              <a:srgbClr val="F0D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724E00"/>
                </a:solidFill>
              </a:defRPr>
            </a:pPr>
            <a:r>
              <a:t>Scoring rows not completed yet.</a:t>
            </a:r>
          </a:p>
          <a:p>
            <a:pPr>
              <a:defRPr sz="1200">
                <a:solidFill>
                  <a:srgbClr val="724E00"/>
                </a:solidFill>
              </a:defRPr>
            </a:pPr>
            <a:r>
              <a:t>Next step: complete trial/demo validation and score all categories before final recommendation.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rm-forge-logo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146304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529"/>
                </a:solidFill>
              </a:defRPr>
            </a:pPr>
            <a:r>
              <a:t>Mindbody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6692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270"/>
                </a:solidFill>
              </a:defRPr>
            </a:pPr>
            <a:r>
              <a:t>Status: conditional-fit   •   Phase: reviewed   •   Recommended Role: hybrid-layer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69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11A2E"/>
                </a:solidFill>
              </a:defRPr>
            </a:pPr>
            <a:r>
              <a:t>Summary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Strong for fitness/wellness and marketplace exposure (3.7M+ users), marketing automation, and reporting. Weak on court booking and multi-waiver; expensive at scale; data owned by Mindbody.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463040"/>
            <a:ext cx="2926080" cy="777240"/>
          </a:xfrm>
          <a:prstGeom prst="roundRect">
            <a:avLst/>
          </a:prstGeom>
          <a:solidFill>
            <a:srgbClr val="F7F8FC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A6270"/>
                </a:solidFill>
              </a:defRPr>
            </a:pPr>
            <a:r>
              <a:t>Weighted Score</a:t>
            </a:r>
          </a:p>
          <a:p>
            <a:pPr algn="ctr">
              <a:defRPr sz="1800" b="1">
                <a:solidFill>
                  <a:srgbClr val="111A2E"/>
                </a:solidFill>
              </a:defRPr>
            </a:pPr>
            <a:r>
              <a:t>3.7/5  (74/100)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606040"/>
          <a:ext cx="1106424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822960"/>
                <a:gridCol w="731520"/>
                <a:gridCol w="5303520"/>
              </a:tblGrid>
              <a:tr h="555171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11A2E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Member onboarding + registration + waivers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Only one default waiver at sign-up; limits multi-sport compliance.</a:t>
                      </a:r>
                    </a:p>
                  </a:txBody>
                  <a:tcPr/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Scheduling + court booking complexity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Not built for court-based sports like tennis — no native court booking.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Parent/athlete communication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Strong marketing automation: email, SMS, push notifications.</a:t>
                      </a:r>
                    </a:p>
                  </a:txBody>
                  <a:tcPr/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Billing/subscriptions + refunds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Full support for billing, subscriptions, and refund edge cases.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Staff roles/permissions + auditability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Staff permissions and roles supported; auditability available.</a:t>
                      </a:r>
                    </a:p>
                  </a:txBody>
                  <a:tcPr/>
                </a:tc>
              </a:tr>
              <a:tr h="55517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Reporting quality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Robust revenue, attendance, retention dashboards; API + integrations (QuickBooks, Zapier, Google Analytics, Stripe).</a:t>
                      </a:r>
                    </a:p>
                  </a:txBody>
                  <a:tcPr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rm-forge-logo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146304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529"/>
                </a:solidFill>
              </a:defRPr>
            </a:pPr>
            <a:r>
              <a:t>Teamworks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6692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270"/>
                </a:solidFill>
              </a:defRPr>
            </a:pPr>
            <a:r>
              <a:t>Status: pending-review   •   Phase: in-progress   •   Recommended Role: tbd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69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11A2E"/>
                </a:solidFill>
              </a:defRPr>
            </a:pPr>
            <a:r>
              <a:t>Summary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Submitted request; waiting for product fit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463040"/>
            <a:ext cx="2926080" cy="777240"/>
          </a:xfrm>
          <a:prstGeom prst="roundRect">
            <a:avLst/>
          </a:prstGeom>
          <a:solidFill>
            <a:srgbClr val="F7F8FC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A6270"/>
                </a:solidFill>
              </a:defRPr>
            </a:pPr>
            <a:r>
              <a:t>Weighted Score</a:t>
            </a:r>
          </a:p>
          <a:p>
            <a:pPr algn="ctr">
              <a:defRPr sz="1800" b="1">
                <a:solidFill>
                  <a:srgbClr val="111A2E"/>
                </a:solidFill>
              </a:defRPr>
            </a:pPr>
            <a:r>
              <a:t>Pending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11064240" cy="1097280"/>
          </a:xfrm>
          <a:prstGeom prst="roundRect">
            <a:avLst/>
          </a:prstGeom>
          <a:solidFill>
            <a:srgbClr val="FFF8E6"/>
          </a:solidFill>
          <a:ln>
            <a:solidFill>
              <a:srgbClr val="F0D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724E00"/>
                </a:solidFill>
              </a:defRPr>
            </a:pPr>
            <a:r>
              <a:t>Scoring rows not completed yet.</a:t>
            </a:r>
          </a:p>
          <a:p>
            <a:pPr>
              <a:defRPr sz="1200">
                <a:solidFill>
                  <a:srgbClr val="724E00"/>
                </a:solidFill>
              </a:defRPr>
            </a:pPr>
            <a:r>
              <a:t>Next step: complete trial/demo validation and score all categories before final recommendation.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rm-forge-logo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146304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529"/>
                </a:solidFill>
              </a:defRPr>
            </a:pPr>
            <a:r>
              <a:t>Waresport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6692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270"/>
                </a:solidFill>
              </a:defRPr>
            </a:pPr>
            <a:r>
              <a:t>Status: pending-review   •   Phase: pending   •   Recommended Role: tbd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69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11A2E"/>
                </a:solidFill>
              </a:defRPr>
            </a:pPr>
            <a:r>
              <a:t>Summary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Pending available trial slot.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463040"/>
            <a:ext cx="2926080" cy="777240"/>
          </a:xfrm>
          <a:prstGeom prst="roundRect">
            <a:avLst/>
          </a:prstGeom>
          <a:solidFill>
            <a:srgbClr val="F7F8FC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A6270"/>
                </a:solidFill>
              </a:defRPr>
            </a:pPr>
            <a:r>
              <a:t>Weighted Score</a:t>
            </a:r>
          </a:p>
          <a:p>
            <a:pPr algn="ctr">
              <a:defRPr sz="1800" b="1">
                <a:solidFill>
                  <a:srgbClr val="111A2E"/>
                </a:solidFill>
              </a:defRPr>
            </a:pPr>
            <a:r>
              <a:t>Pending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11064240" cy="1097280"/>
          </a:xfrm>
          <a:prstGeom prst="roundRect">
            <a:avLst/>
          </a:prstGeom>
          <a:solidFill>
            <a:srgbClr val="FFF8E6"/>
          </a:solidFill>
          <a:ln>
            <a:solidFill>
              <a:srgbClr val="F0D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724E00"/>
                </a:solidFill>
              </a:defRPr>
            </a:pPr>
            <a:r>
              <a:t>Scoring rows not completed yet.</a:t>
            </a:r>
          </a:p>
          <a:p>
            <a:pPr>
              <a:defRPr sz="1200">
                <a:solidFill>
                  <a:srgbClr val="724E00"/>
                </a:solidFill>
              </a:defRPr>
            </a:pPr>
            <a:r>
              <a:t>Next step: complete trial/demo validation and score all categories before final recommendation.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rm-forge-logo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146304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529"/>
                </a:solidFill>
              </a:defRPr>
            </a:pPr>
            <a:r>
              <a:t>Jonas Club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6692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270"/>
                </a:solidFill>
              </a:defRPr>
            </a:pPr>
            <a:r>
              <a:t>Status: conditional-fit   •   Phase: trial-pending   •   Recommended Role: core-ops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69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11A2E"/>
                </a:solidFill>
              </a:defRPr>
            </a:pPr>
            <a:r>
              <a:t>Summary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Demo requested via schedule form (rutvi@medlmobile.com). Awaiting sales contact to complete guided product eval. Core-ops fit pending validation of scheduling, memberships, billing, reporting, and integrations. No self-serve trial found.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463040"/>
            <a:ext cx="2926080" cy="777240"/>
          </a:xfrm>
          <a:prstGeom prst="roundRect">
            <a:avLst/>
          </a:prstGeom>
          <a:solidFill>
            <a:srgbClr val="F7F8FC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A6270"/>
                </a:solidFill>
              </a:defRPr>
            </a:pPr>
            <a:r>
              <a:t>Weighted Score</a:t>
            </a:r>
          </a:p>
          <a:p>
            <a:pPr algn="ctr">
              <a:defRPr sz="1800" b="1">
                <a:solidFill>
                  <a:srgbClr val="111A2E"/>
                </a:solidFill>
              </a:defRPr>
            </a:pPr>
            <a:r>
              <a:t>Pending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11064240" cy="1097280"/>
          </a:xfrm>
          <a:prstGeom prst="roundRect">
            <a:avLst/>
          </a:prstGeom>
          <a:solidFill>
            <a:srgbClr val="FFF8E6"/>
          </a:solidFill>
          <a:ln>
            <a:solidFill>
              <a:srgbClr val="F0D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724E00"/>
                </a:solidFill>
              </a:defRPr>
            </a:pPr>
            <a:r>
              <a:t>Scoring rows not completed yet.</a:t>
            </a:r>
          </a:p>
          <a:p>
            <a:pPr>
              <a:defRPr sz="1200">
                <a:solidFill>
                  <a:srgbClr val="724E00"/>
                </a:solidFill>
              </a:defRPr>
            </a:pPr>
            <a:r>
              <a:t>Next step: complete trial/demo validation and score all categories before final recommendation.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rm-forge-logo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146304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529"/>
                </a:solidFill>
              </a:defRPr>
            </a:pPr>
            <a:r>
              <a:t>TeamBuildr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6692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270"/>
                </a:solidFill>
              </a:defRPr>
            </a:pPr>
            <a:r>
              <a:t>Status: pending-review   •   Phase: hands-on-trial   •   Recommended Role: performance-layer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69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11A2E"/>
                </a:solidFill>
              </a:defRPr>
            </a:pPr>
            <a:r>
              <a:t>Summary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Self-serve trial started (rutvi@medlmobile.com). Reached onboarding with business name Farm &amp; Forge Club. Next: finish onboarding and score core workflows (booking, memberships, payments, reporting, admin UX). Performance-ops candidate.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463040"/>
            <a:ext cx="2926080" cy="777240"/>
          </a:xfrm>
          <a:prstGeom prst="roundRect">
            <a:avLst/>
          </a:prstGeom>
          <a:solidFill>
            <a:srgbClr val="F7F8FC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A6270"/>
                </a:solidFill>
              </a:defRPr>
            </a:pPr>
            <a:r>
              <a:t>Weighted Score</a:t>
            </a:r>
          </a:p>
          <a:p>
            <a:pPr algn="ctr">
              <a:defRPr sz="1800" b="1">
                <a:solidFill>
                  <a:srgbClr val="111A2E"/>
                </a:solidFill>
              </a:defRPr>
            </a:pPr>
            <a:r>
              <a:t>Pending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11064240" cy="1097280"/>
          </a:xfrm>
          <a:prstGeom prst="roundRect">
            <a:avLst/>
          </a:prstGeom>
          <a:solidFill>
            <a:srgbClr val="FFF8E6"/>
          </a:solidFill>
          <a:ln>
            <a:solidFill>
              <a:srgbClr val="F0D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724E00"/>
                </a:solidFill>
              </a:defRPr>
            </a:pPr>
            <a:r>
              <a:t>Scoring rows not completed yet.</a:t>
            </a:r>
          </a:p>
          <a:p>
            <a:pPr>
              <a:defRPr sz="1200">
                <a:solidFill>
                  <a:srgbClr val="724E00"/>
                </a:solidFill>
              </a:defRPr>
            </a:pPr>
            <a:r>
              <a:t>Next step: complete trial/demo validation and score all categories before final recommendation.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rm-forge-logo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146304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529"/>
                </a:solidFill>
              </a:defRPr>
            </a:pPr>
            <a:r>
              <a:t>Recommended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6692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270"/>
                </a:solidFill>
              </a:defRPr>
            </a:pPr>
            <a:r>
              <a:t>Move from evaluation to decision with low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69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529"/>
                </a:solidFill>
              </a:defRPr>
            </a:pPr>
            <a:r>
              <a:t>Finalize scoring rows for pending services (TeamBuildr, Jonas Club, Exercise.com, Teamworks, Waresport).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t>Run scheduling + payments UAT checklist against top core-ops candidates.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t>Validate API/webhook coverage for integrations and reporting.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t>Select target stack and sequence rollout by function: booking → billing → communication → performance layer.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